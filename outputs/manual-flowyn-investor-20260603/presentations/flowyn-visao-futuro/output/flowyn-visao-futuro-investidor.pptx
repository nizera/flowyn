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68d204c9db446d" /><Relationship Type="http://schemas.openxmlformats.org/officeDocument/2006/relationships/extended-properties" Target="/docProps/app.xml" Id="R837216ccb4764194" /><Relationship Type="http://schemas.openxmlformats.org/officeDocument/2006/relationships/officeDocument" Target="/ppt/presentation.xml" Id="R91ce2968e3d849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e5d2498beb4062"/>
  </p:sldMasterIdLst>
  <p:notesMasterIdLst>
    <p:notesMasterId xmlns:r="http://schemas.openxmlformats.org/officeDocument/2006/relationships" r:id="R52a3661b74e24cfe"/>
  </p:notesMasterIdLst>
  <p:sldIdLst>
    <p:sldId xmlns:r="http://schemas.openxmlformats.org/officeDocument/2006/relationships" id="256" r:id="Rd254c0b97fce4302"/>
    <p:sldId xmlns:r="http://schemas.openxmlformats.org/officeDocument/2006/relationships" id="257" r:id="Ra3b80450003f4e4b"/>
    <p:sldId xmlns:r="http://schemas.openxmlformats.org/officeDocument/2006/relationships" id="258" r:id="R20d52edda5d049ca"/>
    <p:sldId xmlns:r="http://schemas.openxmlformats.org/officeDocument/2006/relationships" id="259" r:id="Reddee3208a3b4bdc"/>
    <p:sldId xmlns:r="http://schemas.openxmlformats.org/officeDocument/2006/relationships" id="260" r:id="Rf7f3f3b806a642d0"/>
    <p:sldId xmlns:r="http://schemas.openxmlformats.org/officeDocument/2006/relationships" id="261" r:id="Rd117a7cffb5847ce"/>
    <p:sldId xmlns:r="http://schemas.openxmlformats.org/officeDocument/2006/relationships" id="262" r:id="R8e41adaa32544c02"/>
    <p:sldId xmlns:r="http://schemas.openxmlformats.org/officeDocument/2006/relationships" id="263" r:id="Rc5c50e70850d4c97"/>
    <p:sldId xmlns:r="http://schemas.openxmlformats.org/officeDocument/2006/relationships" id="264" r:id="Rf413a50e637d4ffd"/>
    <p:sldId xmlns:r="http://schemas.openxmlformats.org/officeDocument/2006/relationships" id="265" r:id="R6b7ec36a069a4ecb"/>
    <p:sldId xmlns:r="http://schemas.openxmlformats.org/officeDocument/2006/relationships" id="266" r:id="Rfbfa80ef6aa74ab2"/>
    <p:sldId xmlns:r="http://schemas.openxmlformats.org/officeDocument/2006/relationships" id="267" r:id="Rf6c0fc019ac54d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db6379dad64e67" /><Relationship Type="http://schemas.openxmlformats.org/officeDocument/2006/relationships/slideMaster" Target="/ppt/slideMasters/slideMaster1.xml" Id="R60e5d2498beb4062" /><Relationship Type="http://schemas.openxmlformats.org/officeDocument/2006/relationships/notesMaster" Target="/ppt/notesMasters/notesMaster1.xml" Id="R52a3661b74e24cfe" /><Relationship Type="http://schemas.openxmlformats.org/officeDocument/2006/relationships/presProps" Target="/ppt/presProps.xml" Id="R8b19ad7bb2a1403b" /><Relationship Type="http://schemas.openxmlformats.org/officeDocument/2006/relationships/viewProps" Target="/ppt/viewProps.xml" Id="R6613b113395d4119" /><Relationship Type="http://schemas.openxmlformats.org/officeDocument/2006/relationships/tableStyles" Target="/ppt/tableStyles.xml" Id="R934ed2f02a9d4b5b" /><Relationship Type="http://schemas.openxmlformats.org/officeDocument/2006/relationships/slide" Target="/ppt/slides/slide1.xml" Id="Rd254c0b97fce4302" /><Relationship Type="http://schemas.openxmlformats.org/officeDocument/2006/relationships/slide" Target="/ppt/slides/slide2.xml" Id="Ra3b80450003f4e4b" /><Relationship Type="http://schemas.openxmlformats.org/officeDocument/2006/relationships/slide" Target="/ppt/slides/slide3.xml" Id="R20d52edda5d049ca" /><Relationship Type="http://schemas.openxmlformats.org/officeDocument/2006/relationships/slide" Target="/ppt/slides/slide4.xml" Id="Reddee3208a3b4bdc" /><Relationship Type="http://schemas.openxmlformats.org/officeDocument/2006/relationships/slide" Target="/ppt/slides/slide5.xml" Id="Rf7f3f3b806a642d0" /><Relationship Type="http://schemas.openxmlformats.org/officeDocument/2006/relationships/slide" Target="/ppt/slides/slide6.xml" Id="Rd117a7cffb5847ce" /><Relationship Type="http://schemas.openxmlformats.org/officeDocument/2006/relationships/slide" Target="/ppt/slides/slide7.xml" Id="R8e41adaa32544c02" /><Relationship Type="http://schemas.openxmlformats.org/officeDocument/2006/relationships/slide" Target="/ppt/slides/slide8.xml" Id="Rc5c50e70850d4c97" /><Relationship Type="http://schemas.openxmlformats.org/officeDocument/2006/relationships/slide" Target="/ppt/slides/slide9.xml" Id="Rf413a50e637d4ffd" /><Relationship Type="http://schemas.openxmlformats.org/officeDocument/2006/relationships/slide" Target="/ppt/slides/slide10.xml" Id="R6b7ec36a069a4ecb" /><Relationship Type="http://schemas.openxmlformats.org/officeDocument/2006/relationships/slide" Target="/ppt/slides/slide11.xml" Id="Rfbfa80ef6aa74ab2" /><Relationship Type="http://schemas.openxmlformats.org/officeDocument/2006/relationships/slide" Target="/ppt/slides/slide12.xml" Id="Rf6c0fc019ac54d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89ba3070ff44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f572cdd22d4c17" /><Relationship Type="http://schemas.openxmlformats.org/officeDocument/2006/relationships/notesMaster" Target="/ppt/notesMasters/notesMaster1.xml" Id="Rbb1523e250774a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fa4dd0f12a43a9" /><Relationship Type="http://schemas.openxmlformats.org/officeDocument/2006/relationships/notesMaster" Target="/ppt/notesMasters/notesMaster1.xml" Id="Rf460ba47823349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2904e14e5c4dd7" /><Relationship Type="http://schemas.openxmlformats.org/officeDocument/2006/relationships/notesMaster" Target="/ppt/notesMasters/notesMaster1.xml" Id="Rb833147f3fad41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965eda1ff94100" /><Relationship Type="http://schemas.openxmlformats.org/officeDocument/2006/relationships/notesMaster" Target="/ppt/notesMasters/notesMaster1.xml" Id="Rc409e5119d5d4d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40c1c20bee492f" /><Relationship Type="http://schemas.openxmlformats.org/officeDocument/2006/relationships/notesMaster" Target="/ppt/notesMasters/notesMaster1.xml" Id="R1059d7f7705f48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5a093bdfda43f1" /><Relationship Type="http://schemas.openxmlformats.org/officeDocument/2006/relationships/notesMaster" Target="/ppt/notesMasters/notesMaster1.xml" Id="R3f274c2f14df4e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28c1933d094402" /><Relationship Type="http://schemas.openxmlformats.org/officeDocument/2006/relationships/notesMaster" Target="/ppt/notesMasters/notesMaster1.xml" Id="R44d81f7bbf5e4f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cc54d978014f78" /><Relationship Type="http://schemas.openxmlformats.org/officeDocument/2006/relationships/notesMaster" Target="/ppt/notesMasters/notesMaster1.xml" Id="Rbdddb288738644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6e26ac5a134196" /><Relationship Type="http://schemas.openxmlformats.org/officeDocument/2006/relationships/notesMaster" Target="/ppt/notesMasters/notesMaster1.xml" Id="Ra1aa5eb9c4bd4c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51ea6617f64942" /><Relationship Type="http://schemas.openxmlformats.org/officeDocument/2006/relationships/notesMaster" Target="/ppt/notesMasters/notesMaster1.xml" Id="Rb4b67b05c51342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6bb16c4f144278" /><Relationship Type="http://schemas.openxmlformats.org/officeDocument/2006/relationships/notesMaster" Target="/ppt/notesMasters/notesMaster1.xml" Id="Rbeb0d213bc1847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8c4b972042419d" /><Relationship Type="http://schemas.openxmlformats.org/officeDocument/2006/relationships/notesMaster" Target="/ppt/notesMasters/notesMaster1.xml" Id="Rfb364482e7e64b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2b002c3dc43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d5164ad61242fc" /><Relationship Type="http://schemas.openxmlformats.org/officeDocument/2006/relationships/slideLayout" Target="/ppt/slideLayouts/slideLayout1.xml" Id="Rfd03e46bd82d45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03e46bd82d45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269c03a6e4052" /><Relationship Type="http://schemas.openxmlformats.org/officeDocument/2006/relationships/image" Target="/ppt/media/image.png" Id="R9dcd3d8218a747ed" /><Relationship Type="http://schemas.openxmlformats.org/officeDocument/2006/relationships/notesSlide" Target="/ppt/notesSlides/notesSlide1.xml" Id="Reaf5412d47d443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8b43f2e064d64" /><Relationship Type="http://schemas.openxmlformats.org/officeDocument/2006/relationships/notesSlide" Target="/ppt/notesSlides/notesSlide2.xml" Id="R480af77a52e74e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a39a51f6e4a5d" /><Relationship Type="http://schemas.openxmlformats.org/officeDocument/2006/relationships/notesSlide" Target="/ppt/notesSlides/notesSlide3.xml" Id="R42f4ae8eff2840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791bc4bcb4eca" /><Relationship Type="http://schemas.openxmlformats.org/officeDocument/2006/relationships/notesSlide" Target="/ppt/notesSlides/notesSlide4.xml" Id="R6f951185c9a14e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e711a350c4b33" /><Relationship Type="http://schemas.openxmlformats.org/officeDocument/2006/relationships/notesSlide" Target="/ppt/notesSlides/notesSlide5.xml" Id="R875fd7fdf90d40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5b8a076cc4e35" /><Relationship Type="http://schemas.openxmlformats.org/officeDocument/2006/relationships/notesSlide" Target="/ppt/notesSlides/notesSlide6.xml" Id="R06342cbd05174f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2880e18864964" /><Relationship Type="http://schemas.openxmlformats.org/officeDocument/2006/relationships/notesSlide" Target="/ppt/notesSlides/notesSlide7.xml" Id="R28db859fa5734b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7c9454c86467b" /><Relationship Type="http://schemas.openxmlformats.org/officeDocument/2006/relationships/notesSlide" Target="/ppt/notesSlides/notesSlide8.xml" Id="R95b5ad25f08e44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532af19ed4d32" /><Relationship Type="http://schemas.openxmlformats.org/officeDocument/2006/relationships/notesSlide" Target="/ppt/notesSlides/notesSlide9.xml" Id="Rda872c0741fd4f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94387bbfd4be0" /><Relationship Type="http://schemas.openxmlformats.org/officeDocument/2006/relationships/notesSlide" Target="/ppt/notesSlides/notesSlide10.xml" Id="Rc46f50ceeb054c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913623ff74abf" /><Relationship Type="http://schemas.openxmlformats.org/officeDocument/2006/relationships/notesSlide" Target="/ppt/notesSlides/notesSlide11.xml" Id="R8a8a02c933624b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75f485f444738" /><Relationship Type="http://schemas.openxmlformats.org/officeDocument/2006/relationships/notesSlide" Target="/ppt/notesSlides/notesSlide12.xml" Id="R06a11062204e4b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C71592-D818-45DA-8BA3-17613D9C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D830E-A52B-426B-AE6E-BE7480A7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d3d8218a747ed"/>
          <a:stretch xmlns:a="http://schemas.openxmlformats.org/drawingml/2006/main"/>
        </p:blipFill>
        <p:spPr>
          <a:xfrm xmlns:a="http://schemas.openxmlformats.org/drawingml/2006/main">
            <a:off x="1190625" y="438150"/>
            <a:ext cx="10287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7FB53-5D0B-48C8-858D-1B30D986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8191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UMA OPERAÇÃO PARA CAPTURAR</a:t>
            </a:r>
          </a:p>
          <a:p xmlns:a="http://schemas.openxmlformats.org/drawingml/2006/main">
            <a:pPr algn="l">
              <a:defRPr sz="41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O CRESCIMENTO DO MERCADO</a:t>
            </a:r>
          </a:p>
          <a:p xmlns:a="http://schemas.openxmlformats.org/drawingml/2006/main">
            <a:pPr algn="l">
              <a:defRPr sz="41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DE CRIADORES.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86150-2695-4103-88DC-B1BD9A61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Checkout, afiliados, pagamentos e dados em uma plataforma simples para produtores digitais.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E62D5-EFA0-4EB5-B0F5-1EC547A2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573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0E1B0-FE4E-4BA6-A5BD-F6AA6F30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573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R$49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4259D-6143-4614-8BA4-04F1CA2C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modelo mensal atual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F5C19-BF5E-4339-8765-07E84367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80944-17E4-4578-9D86-55027319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comissão Flowyn por venda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D745E-2677-4575-8968-1C225B64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33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rPr>
              <a:t>futuro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9CF17-B1A1-4B42-A8C9-B5DA609F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tracking + dados + marketplace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B2FB3-DA14-4678-BA5D-F42ECABB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C3C45-8971-4DDD-A8FA-7B30EE3A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Flowyn | visão de mercado, operação e futuro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BADF2-C8BA-4613-834D-95A61425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83041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B5B57C-8129-436E-9AEB-65AB5486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0019E23-4108-464E-9E6C-6020D142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A869811-CF00-4E4B-A6CA-5E64FA2A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PARA QUEM NÃO CONHECE O MERCADO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8FFA8-4175-4941-8222-FA75F0B2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85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A FLOWYN É UMA INFRAESTRUTURA</a:t>
            </a:r>
          </a:p>
          <a:p xmlns:a="http://schemas.openxmlformats.org/drawingml/2006/main">
            <a:pPr algn="l">
              <a:def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PARA VENDER CONHECIMENTO ONLINE.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38F68-D6BE-4501-92B4-41D5508F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O negócio não depende de estoque físico: conecta quem cria, quem divulga e quem compra.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80FE2-8476-4897-B2D2-83C3C596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F3FBA-E732-49D0-900A-CFFCEB64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Produtor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237E1-BAC6-4E70-8BAE-96088546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213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Cria curso, e-book, mentoria, comunidade ou SaaS e precisa vender com checkout confiável.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CCD31-FB07-49F3-9827-AA3527BE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19450"/>
            <a:ext cx="2476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1AB79-BA7B-4211-A7AF-996A04F5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909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Afiliado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990E7-7B98-4CBB-B271-D80F1A94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71900"/>
            <a:ext cx="213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Divulga produtos de terceiros e recebe comissão quando gera venda.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6CB8B-7379-4185-88C4-63FE57FD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19450"/>
            <a:ext cx="2476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13AFD-9F72-4C51-AB7A-614584C8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909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Comprador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DDF2C-A00E-46B8-A5BD-324116B1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71900"/>
            <a:ext cx="213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Paga pelo produto digital e recebe acesso, link, arquivo ou onboarding automaticamente.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AAE4C-30A2-4BA3-B1B8-326FA430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19450"/>
            <a:ext cx="2095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C6306-B9B2-4166-BE5D-92E74F78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rPr>
              <a:t>Plataforma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580AD-2B7E-417A-B765-CCDD0A59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71900"/>
            <a:ext cx="1752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Orquestra pagamento, split, rastreamento, entrega e relatórios. É aqui que a Flowyn captura valor.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D9C62-AB0D-46FC-9AD5-6AB2BC1B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4B4C8-76BA-4143-8236-66F57B64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Fontes: landing Flowyn e documentação interna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50A3C-16AD-484E-908C-BA93C58B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86625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F97AD8-9A52-4B8B-9DA1-7B71E2FA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71C64B-2192-47D6-8391-8C6E29A0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BDE3C5F-11E0-45BB-AE07-4874EFA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POR QUE ISSO PODE SER LUCRATIVO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D3775-FEA3-444D-A78E-598C17A8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O MERCADO É BOM PORQUE A PLATAFORMA</a:t>
            </a:r>
          </a:p>
          <a:p xmlns:a="http://schemas.openxmlformats.org/drawingml/2006/main">
            <a:pPr algn="l">
              <a:def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FICA NO CAMINHO DO DINHEIRO.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78F81-F74E-4EB8-A1D7-14785840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Quem vende online precisa de infraestrutura antes de escalar: pagamento, rastreio, entrega e confiança.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37A71-C08B-4BFC-A2CA-14AE8712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59ED8-892F-4DC5-A6A0-B504FEFD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Receita recorrente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ADBA4-85C2-43FC-875F-DB493B44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O cliente paga para manter a operação rodando, não apenas para criar uma página.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BB896-DCED-4C21-BC9C-317A1972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8048A-EE4B-40E6-A622-1B690F7C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0995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rPr>
              <a:t>Volume transacional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B4A13-1A61-4692-8992-1E2D5038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9095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Mesmo com mensalidade fixa, a plataforma acompanha GMV, pedidos e comportamento de venda.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536FF-64E0-43D2-BBD5-23D19015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80C96-17BE-41EA-AA1F-025D5B57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0995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1C7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71C7FF"/>
                </a:solidFill>
                <a:latin typeface="Aptos Display"/>
                <a:ea typeface="Aptos Display"/>
                <a:cs typeface="Aptos Display"/>
              </a:rPr>
              <a:t>Dados proprietários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9EBA9-CAD8-411A-B89C-E498581E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9095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Tracking, conversão, refund, afiliados e campanhas viram ativos de inteligência para novos produtos.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2F800-0F9B-4361-9A75-ED8A27DF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DE861-36FC-42C0-A068-A10A8459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Fontes: landing Flowyn e documentação interna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0667E-7C04-48FC-BC26-E165C472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07047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25670-57E2-45CE-A29B-A3A3C933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C48A917-4616-4FC8-8CF2-FD90C89A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57CC4C4-5E07-4FBA-B7DF-066263C1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MERCADO VALIDADO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57471-75EF-4864-B4D2-B8F94A9C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191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rPr>
              <a:t>A ECONOMIA DOS CRIADORES JÁ É</a:t>
            </a:r>
          </a:p>
          <a:p xmlns:a="http://schemas.openxmlformats.org/drawingml/2006/main">
            <a:pPr algn="l">
              <a:defRPr sz="3225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rPr>
              <a:t>UM MERCADO GRANDE NO BRASIL.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0C085-F6EE-4820-8599-BDDB5B17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828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05A"/>
                </a:solidFill>
                <a:latin typeface="Aptos"/>
                <a:ea typeface="Aptos"/>
                <a:cs typeface="Aptos"/>
              </a:rPr>
              <a:t>A Flowyn está em um recorte específico: monetização direta de produtos digitais, afiliados e checkout.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AF460-A622-48D7-AB6B-7A285359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095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US$5,47 bi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2CCB7-8B64-4F2A-8B8D-74F0411C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309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5A"/>
                </a:solidFill>
                <a:latin typeface="Aptos"/>
                <a:ea typeface="Aptos"/>
                <a:cs typeface="Aptos"/>
              </a:rPr>
              <a:t>tamanho estimado do mercado brasileiro de creator economy em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6400C-0D77-4791-9F48-46B97C3A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00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rPr>
              <a:t>US$33,58 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FDCD3-BD39-47D7-AFC1-B941663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5A"/>
                </a:solidFill>
                <a:latin typeface="Aptos"/>
                <a:ea typeface="Aptos"/>
                <a:cs typeface="Aptos"/>
              </a:rPr>
              <a:t>projeção para 2034 segundo a mesma fonte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12725-C7DD-43F4-BD2B-BC9478E9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rPr>
              <a:t>22,34%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51088-1E5B-4769-A987-7DE815EA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57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5A"/>
                </a:solidFill>
                <a:latin typeface="Aptos"/>
                <a:ea typeface="Aptos"/>
                <a:cs typeface="Aptos"/>
              </a:rPr>
              <a:t>CAGR projetado para 2026-2034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8CE80-7546-4A62-A9A3-61410633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185D9-7C6D-47A3-89D0-C98F4887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971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E0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0E0D"/>
                </a:solidFill>
                <a:latin typeface="Aptos"/>
                <a:ea typeface="Aptos"/>
                <a:cs typeface="Aptos"/>
              </a:rPr>
              <a:t>Tradução para o comprador: não é uma aposta em um produto isolado; é uma entrada em uma infraestrutura de monetização para criadores.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4FF30-2D51-408A-8F14-FAAF28EF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F9533-260B-4118-AD72-CCD09F8E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Fonte: IMARC, Brazil Creator Economy Market Size, 2025-2034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C0D22-46E6-4EF7-AAE7-975CA641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17155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69D5CA-EFBE-417E-8538-C13487DC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34792A7-2E94-430D-874C-B7CCA5B3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D786D5D-2BAB-47B0-9B87-B7FC5639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CONCORRENTES PROVAM DEMANDA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567CF-28B5-4C23-A7C9-6909B17E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76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PLAYERS EXISTENTES JÁ CONCENTRAM</a:t>
            </a:r>
          </a:p>
          <a:p xmlns:a="http://schemas.openxmlformats.org/drawingml/2006/main">
            <a:pPr algn="l">
              <a:def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MILHÕES DE VISITAS E PRODUTOS.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208E1-C387-4E86-9426-DAE6D7B8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Use estes números como proxy de interesse e maturidade do mercado. Visita estimada não é usuário pagante.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CD87A-ECF8-4BF5-835D-0B75ACA3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Hotmart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35F83-D281-4AAA-B289-91B0F739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62300"/>
            <a:ext cx="542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D48F9-2F12-4ED9-B496-7A042734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62300"/>
            <a:ext cx="542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B4693-49E4-4EAB-BE20-015C5182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146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090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0908"/>
                </a:solidFill>
                <a:latin typeface="Aptos"/>
                <a:ea typeface="Aptos"/>
                <a:cs typeface="Aptos"/>
              </a:rPr>
              <a:t>50,4M/mês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1BFEE-CC27-47FF-9C46-CC4DFABC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Kiwify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20A0E-9543-45A8-AF04-8937F012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771900"/>
            <a:ext cx="542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BB199-6973-4292-BAA5-1DC8E1F0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771900"/>
            <a:ext cx="100441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70978-B72E-4CAB-B830-206BC283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236" y="37242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1C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1C7FF"/>
                </a:solidFill>
                <a:latin typeface="Aptos"/>
                <a:ea typeface="Aptos"/>
                <a:cs typeface="Aptos"/>
              </a:rPr>
              <a:t>9,32M/mês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E887B-A7BC-44CA-AC7F-C12E37F3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Eduzz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AD724-AF36-4690-BB9C-A3830A3C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381500"/>
            <a:ext cx="542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A6626-7F6D-4D52-8825-289FCA32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381500"/>
            <a:ext cx="21174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C07C4-5EE9-42E4-B27C-1FAF1B52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566" y="43338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1,96M/mês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AA921-5A02-4F38-9EF9-90DF5704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28575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00E8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E09A1-81BD-4625-9831-9BD597BB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35M+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4DA48-02F1-4641-B10B-8BC15074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4810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usuários Hotmart informados em press release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CA82D-CB37-43A2-89BC-FD91889A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4340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rPr>
              <a:t>580k+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1513A-237B-4F1F-AF56-917A1405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577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produtos digitais registrados na Hotmart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D80A8-7925-4CF9-8284-85BF2BEC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AD5292-2A61-4F88-9878-7DEBD8B7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Fontes: HypeStat/SimilarWeb para Hotmart; Semrush para Kiwify e Eduzz; Hotmart press para usuários/produtos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18ADC-CE6F-42E2-B815-FB1B3437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31062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FB8D73-AFB4-47FB-B1CD-4D687AC4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D50F943-9962-4617-8D44-A78D5BFA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97614C-FBD2-4933-B11E-F3B8F11D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WEDGE DA FLOWYN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3E276-2C58-4458-BDE1-2B3A0A38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38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A ENTRADA DA FLOWYN É SIMPLES:</a:t>
            </a:r>
          </a:p>
          <a:p xmlns:a="http://schemas.openxmlformats.org/drawingml/2006/main">
            <a:pPr algn="l">
              <a:defRPr sz="33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MENOS TAXA, MAIS CONTROLE.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E6C66-DA07-42E4-ABE5-9323A753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Para quem está começando, porcentagem por venda parece barata. Quando vende mais, vira perda de margem.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77862-CF4A-4BBA-AF48-52C97B2B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31908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D9754-0178-4451-83C3-19D0AF21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2847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Preço compreensível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44BA7-F829-4E65-ACFE-B1885A5F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8479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R$49/mês após 7 dias. A pessoa entende o custo antes de entender todo o mercado.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54FD3-64CF-4BA6-8F36-71478A4F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81350"/>
            <a:ext cx="31908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E44A3-DC01-419D-8415-9702F433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52800"/>
            <a:ext cx="2847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rPr>
              <a:t>Sem comissão Flowyn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991ED-5183-438C-8440-4406B1FA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28479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0% por venda cria uma mensagem clara contra plataformas que crescem junto com a receita do produtor.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7F33F-C4BE-4B5F-8C3F-A1089AAE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31908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1AA02-F026-4F2A-9C12-E0962DD5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847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1C7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71C7FF"/>
                </a:solidFill>
                <a:latin typeface="Aptos Display"/>
                <a:ea typeface="Aptos Display"/>
                <a:cs typeface="Aptos Display"/>
              </a:rPr>
              <a:t>Operação no trilho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A9CBB-D459-4D52-A18D-D3ABD8B2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28479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Checkout, split Asaas, afiliados, pixels, webhooks e entrega automática no mesmo fluxo.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87B1B-FB67-4E53-BF02-6CE3EFD4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C0E8C-4354-42E8-90A1-90CA1D16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Fonte: landing Flowyn atual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CDAE8-ED02-4454-A4F3-ECE7B511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66385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059B5C-9FD8-4157-ACFB-705B75A2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A7B420-2082-47E7-B9B9-37622DCA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D53C9AF-878B-4058-A3E4-B5E19E53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POTENCIAL DE FATURAMENTO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965AC-E9BB-48B4-B10E-F55ED633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rPr>
              <a:t>COM PREÇO FIXO, A CONTA FICA</a:t>
            </a:r>
          </a:p>
          <a:p xmlns:a="http://schemas.openxmlformats.org/drawingml/2006/main">
            <a:pPr algn="l">
              <a:defRPr sz="3375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rPr>
              <a:t>FÁCIL DE EXPLICAR.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35F6F-4EA8-43A2-A172-105C2248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05A"/>
                </a:solidFill>
                <a:latin typeface="Aptos"/>
                <a:ea typeface="Aptos"/>
                <a:cs typeface="Aptos"/>
              </a:rPr>
              <a:t>Modelo ilustrativo apenas com a mensalidade atual de R$49. Não inclui add-ons, serviços, take rate financeiro ou upsells futuros.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C51E0-B252-4D29-8B5F-59F1B352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05A"/>
                </a:solidFill>
                <a:latin typeface="Aptos"/>
                <a:ea typeface="Aptos"/>
                <a:cs typeface="Aptos"/>
              </a:rPr>
              <a:t>Clientes ativos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735D8-9D7D-4EA5-87DF-97A963BD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575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05A"/>
                </a:solidFill>
                <a:latin typeface="Aptos"/>
                <a:ea typeface="Aptos"/>
                <a:cs typeface="Aptos"/>
              </a:rPr>
              <a:t>MRR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E4CB4-77C5-41FD-A19F-5B79FD02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05A"/>
                </a:solidFill>
                <a:latin typeface="Aptos"/>
                <a:ea typeface="Aptos"/>
                <a:cs typeface="Aptos"/>
              </a:rPr>
              <a:t>ARR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CC42F-229C-4C75-8A4D-50DA18BF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34DDF-902A-4682-ACA4-7BD1A29B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242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100 clientes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3EBD7-D356-47DA-A047-DD95C14E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3242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R$ 4,9k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8EA7C-6919-4346-93AB-73D3E2E8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242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R$ 58,8k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A3FAB-A650-421B-B2F3-50D84808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326"/>
          </a:solidFill>
          <a:ln xmlns:a="http://schemas.openxmlformats.org/drawingml/2006/main" w="9525">
            <a:solidFill>
              <a:srgbClr val="00E8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3CD28-FC0A-4DD4-BAB5-576C7BCE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500 clientes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627FD-4282-4811-BD52-BCEB4B65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9719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R$ 24,5k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13408-F423-45E2-AB3E-1FB9D7F9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719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R$ 294k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0029A-58CD-493B-9C9A-C0BA7E99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A765D-612C-4B9C-B430-501567C6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96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2.000 clientes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E21F9-8199-48B0-8E37-F1F95F05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6196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R$ 98k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71C3FD-C9A2-4BFA-B629-EB9AD38A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196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R$ 1,18M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075DC-CCE4-432B-BE04-FFE85560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5694A-1241-468F-8FD4-3C471A00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673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5.000 clientes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AE2877-8E3E-426C-ACBE-E5B15527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673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R$ 245k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87241-0775-4FE6-BE91-2DB8CEFD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673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R$ 2,94M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EDE67C-8597-49CA-B6D0-CB7034C4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65FBF-8F67-47ED-866A-798EC4F1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Cenários ilustrativos calculados a partir do preço atual de R$49/mês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9D2F57-0529-43B7-A0F1-E70D8FA4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954399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372798-45D4-4D8F-A788-26EC2602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4B775BB-4167-4B2E-98C9-484AA2F3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52F2DA-2DA0-4CB1-8B5B-03F51993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LOOP DE CRESCIMENTO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5FE09-AA8F-4FA8-B9B2-AB47BC5F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A PLATAFORMA FICA MAIS VALIOSA</a:t>
            </a:r>
          </a:p>
          <a:p xmlns:a="http://schemas.openxmlformats.org/drawingml/2006/main">
            <a:pPr algn="l">
              <a:defRPr sz="33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QUANDO O MARKETPLACE GIRA.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36062-B1CB-4CDF-A36B-7F35116E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O futuro não é apenas vender checkout. É criar uma rede com dados de conversão.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78A6F-50EC-4F4B-BF91-F2DD024C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527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326"/>
          </a:solidFill>
          <a:ln xmlns:a="http://schemas.openxmlformats.org/drawingml/2006/main" w="19050">
            <a:solidFill>
              <a:srgbClr val="00E8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4C97B-E5C2-4D1D-B3BA-1B108795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385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FLOWYN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528A3-D45D-46A0-BC9D-8BC0DA5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81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FF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FFE1"/>
                </a:solidFill>
                <a:latin typeface="Aptos"/>
                <a:ea typeface="Aptos"/>
                <a:cs typeface="Aptos"/>
              </a:rPr>
              <a:t>dados + pagamentos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E8328-BB9C-41DF-868E-1F3B6D37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66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C7C21-DC1F-4594-80F2-BF17BF7A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1. Produtores entram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9F2A5-E933-4934-9DA5-8BCFC8DF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Publicam produtos e planos para vender sem custo variável da Flowyn.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BA0C7-B854-41FE-BACF-390D10A9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2445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05477-CED4-413B-9523-F24C26F6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959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2. Afiliados promovem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E0991-117A-4E69-90B1-74917FCB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6769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Buscam produtos com melhor comissão, conversão e histórico.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129BF-AF5B-4F4A-A39E-CD5AEAD3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05150"/>
            <a:ext cx="266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A1E16-7909-43E1-9338-49C6AD21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3. Compradores validam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FFED4-BF88-46B6-94C0-4DE754A2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5760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Cada compra gera sinal de campanha, checkout e oferta.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A29B3-F9C8-4277-B0F5-0F6B0830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71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mais produtos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2380C-2746-4C27-AEF6-5FE4A57C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71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mais tráfego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C7223-9744-448B-8B35-863DA82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196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mais dados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8D5A2-A136-49D4-BDB3-3F149D2C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96ACE-8A40-4996-B0E8-B3449AC4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Fontes: landing Flowyn e documentação interna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03688-2EA9-4107-925B-C15FA52D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4664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AF8011-9672-4464-98E2-50828ECB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BD5B387-82D7-4296-9128-F67616C4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021693-7140-4471-ABFF-0ADEC68A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ROADMAP DE VALORIZAÇÃO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4DE1C-F543-47FD-9ABB-633294FB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O ROADMAP TRANSFORMA CHECKOUT</a:t>
            </a:r>
          </a:p>
          <a:p xmlns:a="http://schemas.openxmlformats.org/drawingml/2006/main">
            <a:pPr algn="l">
              <a:def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EM PLATAFORMA DE INTELIGÊNCIA.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00348-3FED-4545-BD7E-FFC985C3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A cada fase, a operação fica menos substituível e aumenta o ARPU potencial.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11239-A020-4F71-9AFE-09C5DE58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38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00E8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7B744-331B-4A59-8D18-CC5965DE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0-90 dias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87414-652A-48BA-8D47-55A0F7D8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Produto vendável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44CE3-5E15-4C3F-B826-65F569ED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038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Onboarding, planos, cobrança, docs, suporte e demo comercial para vender a primeira base.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F3A15-014B-4FBB-9CF3-9F4C17B2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81350"/>
            <a:ext cx="238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85178-D7D4-4526-A7AC-46621726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3-6 meses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A3B97-22F2-4998-A09C-511FDCC5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147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Tracking tipo UTMify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6BD65-23DE-4D3D-98E3-15B3853D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2038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Clique, UTM, campanha, criativo, pedido, PIX pago, reembolso e ROAS em um painel próprio.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A1328-17CA-4523-BD08-F1DF69A3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238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71C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FB3FC-CFAF-486E-A57A-41BC5BBC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C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1C7FF"/>
                </a:solidFill>
                <a:latin typeface="Aptos"/>
                <a:ea typeface="Aptos"/>
                <a:cs typeface="Aptos"/>
              </a:rPr>
              <a:t>6-12 meses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22BBB-922F-43BF-A90F-9DA43044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Marketplace inteligente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F90DF-AF5A-49BE-A55D-60E2D27D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05300"/>
            <a:ext cx="2038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Ranking por EPC, conversão, refund, nicho e histórico para ativar afiliados melhores.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1236E-F774-4973-9DAE-1C77D886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238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B9FF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E31E55-8511-4D4B-BD01-D3BB8F2C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FF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FE1"/>
                </a:solidFill>
                <a:latin typeface="Aptos"/>
                <a:ea typeface="Aptos"/>
                <a:cs typeface="Aptos"/>
              </a:rPr>
              <a:t>12+ meses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E93E3-8E06-45D0-AC2E-7B74EE24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Finanças e dados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ED0F4-B52D-4770-8A8A-5CEE1559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05300"/>
            <a:ext cx="2038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BI, risco, antifraude, nota fiscal, antecipação e APIs para operação profissional.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7895C-CE79-4AB0-BD29-6FEF605B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F23846-4CE1-4E83-B061-E30FD13C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Roadmap proposto com base na operação atual e referência UTMify para tracking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D375C-102B-458C-8289-734C119C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522096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41BA33-E47F-4277-967B-AF38E823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FEDE19D-1059-4F55-BE42-B71B96E0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0193269-FB3B-43E3-B4FA-39B08F2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POR QUE TRACKING IMPORTA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6789E-D854-42D3-8E7D-5C92DC98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85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rPr>
              <a:t>O PRÓXIMO GRANDE SALTO É SABER</a:t>
            </a:r>
          </a:p>
          <a:p xmlns:a="http://schemas.openxmlformats.org/drawingml/2006/main">
            <a:pPr algn="l">
              <a:defRPr sz="3300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rPr>
              <a:t>QUAL ANÚNCIO DEU DINHEIRO.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A5EF6-C2C6-4383-8A62-F4748CD0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05A"/>
                </a:solidFill>
                <a:latin typeface="Aptos"/>
                <a:ea typeface="Aptos"/>
                <a:cs typeface="Aptos"/>
              </a:rPr>
              <a:t>Ferramentas como UTMify existem porque o produtor que escala tráfego não quer só vender: quer otimizar lucro por campanha.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E0D1E-56C7-43CD-9AB7-261F012A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646C-F7E4-45BE-B931-2199F0A4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rPr>
              <a:t>Hoje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23947-CB57-4C44-AB59-6D75BB52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60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5A"/>
                </a:solidFill>
                <a:latin typeface="Aptos"/>
                <a:ea typeface="Aptos"/>
                <a:cs typeface="Aptos"/>
              </a:rPr>
              <a:t>Pixels e webhooks dão a base para acompanhar conversões e entregar produtos.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ACE29-F6E7-4C59-956A-70561289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E8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6EBA4-5603-41E6-92B5-1901D175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0995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Próxima camada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49933-CF71-4933-B9CB-F2A7CC8E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90950"/>
            <a:ext cx="260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5A"/>
                </a:solidFill>
                <a:latin typeface="Aptos"/>
                <a:ea typeface="Aptos"/>
                <a:cs typeface="Aptos"/>
              </a:rPr>
              <a:t>Atribuição server-side: clique → checkout → pagamento → reembolso → campanha.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8BBA7-E4D9-41AF-8E4E-CDC5E283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E927E-7E1D-4C60-BA4E-1A432669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0E0D"/>
                </a:solidFill>
                <a:latin typeface="Aptos Display"/>
                <a:ea typeface="Aptos Display"/>
                <a:cs typeface="Aptos Display"/>
              </a:rPr>
              <a:t>Valor para o comprador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CA9BB-A050-4D52-B78F-9ED46203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260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5A"/>
                </a:solidFill>
                <a:latin typeface="Aptos"/>
                <a:ea typeface="Aptos"/>
                <a:cs typeface="Aptos"/>
              </a:rPr>
              <a:t>Add-on premium, maior retenção, dados próprios e diferencial contra plataformas genéricas.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90B90-29A2-47BB-BC75-0ED3FCA0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EDE8F-5C1F-4AC5-ABA3-B7BC93D9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Fontes: página pública UTMify e documentação Flowyn de webhooks/pixels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3BFAF-0107-498B-8662-C59E55C4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314331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8845F8-4036-40D9-961A-6C048489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A24CCCB-16CF-4ED1-89E1-EDAAC148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E8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97A49E6-7FC4-4100-9D17-37F3DA76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8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88A"/>
                </a:solidFill>
                <a:latin typeface="Aptos"/>
                <a:ea typeface="Aptos"/>
                <a:cs typeface="Aptos"/>
              </a:rPr>
              <a:t>VISÃO DE FUTURO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97166-568D-432A-8612-C8866730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85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A FLOWYN PODE VIRAR O SISTEMA</a:t>
            </a:r>
          </a:p>
          <a:p xmlns:a="http://schemas.openxmlformats.org/drawingml/2006/main">
            <a:pPr algn="l">
              <a:def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8FBF9"/>
                </a:solidFill>
                <a:latin typeface="Aptos Display"/>
                <a:ea typeface="Aptos Display"/>
                <a:cs typeface="Aptos Display"/>
              </a:rPr>
              <a:t>OPERACIONAL DO PRODUTOR DIGITAL.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9C2E9-ECB1-44F9-9F26-E97BB537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A tese: começar pelo checkout e crescer para inteligência, distribuição e finanças.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7EDF2-3B8D-4003-A424-43764E43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333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ED066-B1A4-4932-A4C0-0A12563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990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0E88A"/>
                </a:solidFill>
                <a:latin typeface="Aptos Display"/>
                <a:ea typeface="Aptos Display"/>
                <a:cs typeface="Aptos Display"/>
              </a:rPr>
              <a:t>Vender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A80DA-AD7F-49A0-828E-04779A00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990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Checkout, order bump, planos, pagamentos e split.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3B355-0293-48F5-8CAA-66D2EC0D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2333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02BA7-F911-4651-906C-938C7CC8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1990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C857"/>
                </a:solidFill>
                <a:latin typeface="Aptos Display"/>
                <a:ea typeface="Aptos Display"/>
                <a:cs typeface="Aptos Display"/>
              </a:rPr>
              <a:t>Medir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BBEBA-0747-47CD-AFF1-A18144DD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10000"/>
            <a:ext cx="1990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UTM, CAPI, ROAS, criativo, funil e LTV.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6DE3E-E11A-45AA-9110-65642DC9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7550"/>
            <a:ext cx="2333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50F59-3EED-4C23-911F-BFB1ABE3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1990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1C7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71C7FF"/>
                </a:solidFill>
                <a:latin typeface="Aptos Display"/>
                <a:ea typeface="Aptos Display"/>
                <a:cs typeface="Aptos Display"/>
              </a:rPr>
              <a:t>Distribuir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A987B-85D4-4F05-8E45-47E16C64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1990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Afiliados, marketplace, rankings e materiais de campanha.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9D74B-2569-4389-BE32-D3EFF8BE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57550"/>
            <a:ext cx="2333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2532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24C97-700D-4F49-AA29-61DDDBE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29000"/>
            <a:ext cx="1990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9FFE1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B9FFE1"/>
                </a:solidFill>
                <a:latin typeface="Aptos Display"/>
                <a:ea typeface="Aptos Display"/>
                <a:cs typeface="Aptos Display"/>
              </a:rPr>
              <a:t>Operar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52F32-1886-47CC-A863-BAEE2B0B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10000"/>
            <a:ext cx="1990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099"/>
                </a:solidFill>
                <a:latin typeface="Aptos"/>
                <a:ea typeface="Aptos"/>
                <a:cs typeface="Aptos"/>
              </a:rPr>
              <a:t>Entrega, webhooks, fiscal, BI, risco e automações.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776C3-B5B0-4F2A-9FCC-BFF605E6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AAB7E-8E17-4274-A67A-B7D9CC85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28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E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FFE1"/>
                </a:solidFill>
                <a:latin typeface="Aptos"/>
                <a:ea typeface="Aptos"/>
                <a:cs typeface="Aptos"/>
              </a:rPr>
              <a:t>Quanto mais módulos a Flowyn concentra, maior a troca de plataforma para o cliente e maior o valor estratégico da operação.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834849-2E40-4502-BE52-B54A8981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EAD88-7277-4FB3-9880-B84709A7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Fontes: landing Flowyn e documentação interna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F8912-0333-4CE3-80CF-DED21E3C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24277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9A65F-6CBD-433F-9A41-1537EC88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8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C793E-6DC4-430B-BFE5-59006AD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55933-2593-4F3D-8C17-64B3CD19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rPr>
              <a:t>O QUE O COMPRADOR</a:t>
            </a:r>
          </a:p>
          <a:p xmlns:a="http://schemas.openxmlformats.org/drawingml/2006/main">
            <a:pPr algn="l">
              <a:defRPr sz="465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rPr>
              <a:t>ESTÁ ADQUIRINDO?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7244A-AF60-4C9D-BDD3-F567B283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3D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3D2E"/>
                </a:solidFill>
                <a:latin typeface="Aptos"/>
                <a:ea typeface="Aptos"/>
                <a:cs typeface="Aptos"/>
              </a:rPr>
              <a:t>Não é só um checkout. É uma posição inicial em um mercado grande, com uma operação que já tem produto, narrativa e próximos módulos claros.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E3C66-6C1A-4176-87EA-30F52899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4B088-1CB4-47DC-B3A5-A37C516E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3D2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63D2E"/>
                </a:solidFill>
                <a:latin typeface="Aptos"/>
                <a:ea typeface="Aptos"/>
                <a:cs typeface="Aptos"/>
              </a:rPr>
              <a:t>base técnica e integrações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107D1-153A-4553-99F7-F8B27FF1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54110-036E-409F-B767-5BDED30F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6722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3D2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63D2E"/>
                </a:solidFill>
                <a:latin typeface="Aptos"/>
                <a:ea typeface="Aptos"/>
                <a:cs typeface="Aptos"/>
              </a:rPr>
              <a:t>modelo simples para vender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02F11-CAD4-40FC-9BC5-F3845502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57625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90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23B91-D6AB-4DC8-96AB-0D794CB6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67225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3D2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63D2E"/>
                </a:solidFill>
                <a:latin typeface="Aptos"/>
                <a:ea typeface="Aptos"/>
                <a:cs typeface="Aptos"/>
              </a:rPr>
              <a:t>roadmap para aumentar ARPU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F3FBE-0F9B-4935-B72E-034BB459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8"/>
          </a:solidFill>
          <a:ln xmlns:a="http://schemas.openxmlformats.org/drawingml/2006/main" w="9525">
            <a:solidFill>
              <a:srgbClr val="07090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3A820-E2F7-4C82-9810-5B083D91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531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B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9"/>
                </a:solidFill>
                <a:latin typeface="Aptos"/>
                <a:ea typeface="Aptos"/>
                <a:cs typeface="Aptos"/>
              </a:rPr>
              <a:t>VISÃO: COMPRAR AGORA E CONSTRUIR O MOAT DE DADOS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21A19-96A3-4339-9193-28532085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65B1A-1489-4468-97D7-6C921A9D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Resumo executivo; projeções dependem de execução, CAC, churn e conversão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4F75D-5A89-4A58-A95B-4A44ACAC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0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09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34374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2026-06-03T11:26:36.4750000Z</dcterms:created>
  <dcterms:modified xsi:type="dcterms:W3CDTF">2026-06-03T11:26:36.4750000Z</dcterms:modified>
</coreProperties>
</file>